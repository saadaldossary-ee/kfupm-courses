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d aldossary" userId="adeaa77d7da4aaed" providerId="LiveId" clId="{C51FC66A-365D-4273-9FE9-853BE825330C}"/>
    <pc:docChg chg="modSld">
      <pc:chgData name="saad aldossary" userId="adeaa77d7da4aaed" providerId="LiveId" clId="{C51FC66A-365D-4273-9FE9-853BE825330C}" dt="2026-05-02T18:41:24.243" v="6" actId="20577"/>
      <pc:docMkLst>
        <pc:docMk/>
      </pc:docMkLst>
      <pc:sldChg chg="modSp mod">
        <pc:chgData name="saad aldossary" userId="adeaa77d7da4aaed" providerId="LiveId" clId="{C51FC66A-365D-4273-9FE9-853BE825330C}" dt="2026-05-02T18:41:24.243" v="6" actId="20577"/>
        <pc:sldMkLst>
          <pc:docMk/>
          <pc:sldMk cId="0" sldId="261"/>
        </pc:sldMkLst>
        <pc:spChg chg="mod">
          <ac:chgData name="saad aldossary" userId="adeaa77d7da4aaed" providerId="LiveId" clId="{C51FC66A-365D-4273-9FE9-853BE825330C}" dt="2026-05-02T18:41:24.243" v="6" actId="20577"/>
          <ac:spMkLst>
            <pc:docMk/>
            <pc:sldMk cId="0" sldId="261"/>
            <ac:spMk id="45" creationId="{00000000-0000-0000-0000-000000000000}"/>
          </ac:spMkLst>
        </pc:spChg>
        <pc:spChg chg="mod">
          <ac:chgData name="saad aldossary" userId="adeaa77d7da4aaed" providerId="LiveId" clId="{C51FC66A-365D-4273-9FE9-853BE825330C}" dt="2026-05-02T18:39:02.783" v="1" actId="114"/>
          <ac:spMkLst>
            <pc:docMk/>
            <pc:sldMk cId="0" sldId="261"/>
            <ac:spMk id="48" creationId="{00000000-0000-0000-0000-000000000000}"/>
          </ac:spMkLst>
        </pc:spChg>
        <pc:spChg chg="mod">
          <ac:chgData name="saad aldossary" userId="adeaa77d7da4aaed" providerId="LiveId" clId="{C51FC66A-365D-4273-9FE9-853BE825330C}" dt="2026-05-02T18:39:04.928" v="2" actId="114"/>
          <ac:spMkLst>
            <pc:docMk/>
            <pc:sldMk cId="0" sldId="261"/>
            <ac:spMk id="5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5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566928"/>
            <a:ext cx="2377440" cy="310896"/>
          </a:xfrm>
          <a:prstGeom prst="roundRect">
            <a:avLst/>
          </a:prstGeom>
          <a:solidFill>
            <a:srgbClr val="0B233C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630936"/>
            <a:ext cx="2286000" cy="219456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6D9C7"/>
                </a:solidFill>
                <a:latin typeface="Aptos"/>
              </a:rPr>
              <a:t>COE 292 • Introduction to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947" y="1234440"/>
            <a:ext cx="7289046" cy="13603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Car Acceptability Classification</a:t>
            </a:r>
            <a:endParaRPr lang="en-US" sz="4400" dirty="0">
              <a:solidFill>
                <a:schemeClr val="bg1"/>
              </a:solidFill>
            </a:endParaRPr>
          </a:p>
          <a:p>
            <a:pPr algn="l">
              <a:lnSpc>
                <a:spcPct val="100000"/>
              </a:lnSpc>
            </a:pPr>
            <a:endParaRPr sz="42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3063240"/>
            <a:ext cx="2279342" cy="252377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r>
              <a:rPr lang="en-US" sz="1400" b="0" i="0" dirty="0">
                <a:solidFill>
                  <a:srgbClr val="C8D5E0"/>
                </a:solidFill>
                <a:latin typeface="Aptos"/>
              </a:rPr>
              <a:t>UCl Car Evaluation Dataset 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 </a:t>
            </a:r>
            <a:endParaRPr sz="1400" b="0" i="0" dirty="0">
              <a:solidFill>
                <a:srgbClr val="C8D5E0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9338" y="4773168"/>
            <a:ext cx="5029200" cy="1024128"/>
          </a:xfrm>
          <a:prstGeom prst="roundRect">
            <a:avLst/>
          </a:prstGeom>
          <a:solidFill>
            <a:srgbClr val="0B233C"/>
          </a:solidFill>
          <a:ln w="1524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4919472"/>
            <a:ext cx="1311385" cy="31393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16D9C7"/>
                </a:solidFill>
                <a:latin typeface="Aptos"/>
              </a:rPr>
              <a:t>Team S12_6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285232"/>
            <a:ext cx="4776820" cy="31393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>
                <a:solidFill>
                  <a:srgbClr val="FFFFFF"/>
                </a:solidFill>
                <a:latin typeface="Aptos"/>
              </a:rPr>
              <a:t>Saad Aldossary • Hassan Alfaifi • Jawad Alharbi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9768" y="393192"/>
            <a:ext cx="54864" cy="502920"/>
          </a:xfrm>
          <a:prstGeom prst="rect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4515980" cy="4216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dirty="0">
                <a:solidFill>
                  <a:srgbClr val="FFFFFF"/>
                </a:solidFill>
                <a:latin typeface="Aptos Display"/>
              </a:rPr>
              <a:t>Problem </a:t>
            </a:r>
            <a:r>
              <a:rPr lang="en-US" sz="2500" b="1" dirty="0">
                <a:solidFill>
                  <a:srgbClr val="FFFFFF"/>
                </a:solidFill>
                <a:latin typeface="Aptos Display"/>
              </a:rPr>
              <a:t>Overview</a:t>
            </a:r>
            <a:r>
              <a:rPr sz="2500" b="1" i="0" dirty="0">
                <a:solidFill>
                  <a:srgbClr val="FFFFFF"/>
                </a:solidFill>
                <a:latin typeface="Aptos Display"/>
              </a:rPr>
              <a:t> &amp; </a:t>
            </a:r>
            <a:r>
              <a:rPr lang="en-US" sz="2500" b="1" dirty="0">
                <a:solidFill>
                  <a:srgbClr val="FFFFFF"/>
                </a:solidFill>
                <a:latin typeface="Aptos Display"/>
              </a:rPr>
              <a:t>Importance</a:t>
            </a:r>
            <a:endParaRPr sz="25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84280" y="6355080"/>
            <a:ext cx="41148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9B8C9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115568"/>
            <a:ext cx="5074920" cy="5047488"/>
          </a:xfrm>
          <a:prstGeom prst="roundRect">
            <a:avLst/>
          </a:prstGeom>
          <a:solidFill>
            <a:srgbClr val="102F4E"/>
          </a:solidFill>
          <a:ln w="1524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32688" y="1353312"/>
            <a:ext cx="531556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600" b="1" dirty="0">
                <a:solidFill>
                  <a:srgbClr val="16D9C7"/>
                </a:solidFill>
                <a:latin typeface="Aptos"/>
              </a:rPr>
              <a:t>Goal</a:t>
            </a:r>
            <a:endParaRPr sz="1600" b="1" i="0" dirty="0">
              <a:solidFill>
                <a:srgbClr val="16D9C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7856" y="1786393"/>
            <a:ext cx="4638209" cy="11573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Predict car acceptability using KNN, SVM, and MLP models</a:t>
            </a:r>
            <a:br>
              <a:rPr lang="en-US" sz="2400" b="1" dirty="0">
                <a:latin typeface="Aptos" panose="020B0004020202020204" pitchFamily="34" charset="0"/>
              </a:rPr>
            </a:br>
            <a:endParaRPr sz="2200" b="1" i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2805831"/>
            <a:ext cx="656590" cy="39087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r>
              <a:rPr lang="en-US" sz="1200" b="1" dirty="0">
                <a:solidFill>
                  <a:srgbClr val="A9B8C9"/>
                </a:solidFill>
                <a:latin typeface="Aptos"/>
              </a:rPr>
              <a:t>Classes</a:t>
            </a:r>
            <a:endParaRPr lang="en-US" sz="1100" b="1" dirty="0">
              <a:solidFill>
                <a:srgbClr val="A9B8C9"/>
              </a:solidFill>
              <a:latin typeface="Aptos"/>
            </a:endParaRPr>
          </a:p>
          <a:p>
            <a:pPr algn="l">
              <a:lnSpc>
                <a:spcPct val="100000"/>
              </a:lnSpc>
            </a:pPr>
            <a:endParaRPr sz="1100" b="1" i="0" dirty="0">
              <a:solidFill>
                <a:srgbClr val="A9B8C9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60120" y="3127248"/>
            <a:ext cx="749808" cy="310896"/>
          </a:xfrm>
          <a:prstGeom prst="roundRect">
            <a:avLst/>
          </a:prstGeom>
          <a:solidFill>
            <a:srgbClr val="071A2D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1118" y="3159407"/>
            <a:ext cx="667812" cy="283154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16D9C7"/>
                </a:solidFill>
                <a:latin typeface="Aptos"/>
              </a:rPr>
              <a:t>unacc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3127248"/>
            <a:ext cx="566928" cy="310896"/>
          </a:xfrm>
          <a:prstGeom prst="roundRect">
            <a:avLst/>
          </a:prstGeom>
          <a:solidFill>
            <a:srgbClr val="071A2D"/>
          </a:solidFill>
          <a:ln w="1270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42700" y="3159407"/>
            <a:ext cx="430566" cy="283154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8B45C"/>
                </a:solidFill>
                <a:latin typeface="Aptos"/>
              </a:rPr>
              <a:t>acc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39" y="3127248"/>
            <a:ext cx="685800" cy="310896"/>
          </a:xfrm>
          <a:prstGeom prst="roundRect">
            <a:avLst/>
          </a:prstGeom>
          <a:solidFill>
            <a:srgbClr val="071A2D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74793" y="3159407"/>
            <a:ext cx="548292" cy="283154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AE60"/>
                </a:solidFill>
                <a:latin typeface="Aptos"/>
              </a:rPr>
              <a:t>good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1" y="3127248"/>
            <a:ext cx="777240" cy="310896"/>
          </a:xfrm>
          <a:prstGeom prst="roundRect">
            <a:avLst/>
          </a:prstGeom>
          <a:solidFill>
            <a:srgbClr val="071A2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0699" y="3159407"/>
            <a:ext cx="648704" cy="283154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F80ED"/>
                </a:solidFill>
                <a:latin typeface="Aptos"/>
              </a:rPr>
              <a:t>vgood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7" y="3889927"/>
            <a:ext cx="4573377" cy="874085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A9B8C9"/>
                </a:solidFill>
                <a:latin typeface="Aptos"/>
              </a:rPr>
              <a:t>Importance</a:t>
            </a:r>
            <a:endParaRPr lang="en-US" sz="1600" b="1" dirty="0">
              <a:solidFill>
                <a:srgbClr val="C8D5E0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C8D5E0"/>
                </a:solidFill>
                <a:latin typeface="Aptos"/>
              </a:rPr>
              <a:t>• Supports real-world car purchasing decisions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solidFill>
                  <a:srgbClr val="C8D5E0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C8D5E0"/>
                </a:solidFill>
                <a:latin typeface="Aptos"/>
              </a:rPr>
              <a:t>Used in recommendation systems and dealerships</a:t>
            </a:r>
            <a:endParaRPr sz="1600" b="1" dirty="0">
              <a:solidFill>
                <a:srgbClr val="C8D5E0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53328" y="1115568"/>
            <a:ext cx="5440680" cy="5047488"/>
          </a:xfrm>
          <a:prstGeom prst="roundRect">
            <a:avLst/>
          </a:prstGeom>
          <a:solidFill>
            <a:srgbClr val="102F4E"/>
          </a:solidFill>
          <a:ln w="1524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353312"/>
            <a:ext cx="912686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E8B45C"/>
                </a:solidFill>
                <a:latin typeface="Aptos"/>
              </a:rPr>
              <a:t>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874519"/>
            <a:ext cx="2240280" cy="713232"/>
          </a:xfrm>
          <a:prstGeom prst="roundRect">
            <a:avLst/>
          </a:prstGeom>
          <a:solidFill>
            <a:srgbClr val="071A2D"/>
          </a:solidFill>
          <a:ln w="1016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1984248"/>
            <a:ext cx="1236492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Aptos"/>
              </a:rPr>
              <a:t>B</a:t>
            </a:r>
            <a:r>
              <a:rPr sz="1600" b="1" i="0" dirty="0">
                <a:solidFill>
                  <a:srgbClr val="FFFFFF"/>
                </a:solidFill>
                <a:latin typeface="Aptos"/>
              </a:rPr>
              <a:t>uying</a:t>
            </a:r>
            <a:r>
              <a:rPr lang="en-US" sz="1600" b="1" i="0" dirty="0">
                <a:solidFill>
                  <a:srgbClr val="FFFFFF"/>
                </a:solidFill>
                <a:latin typeface="Aptos"/>
              </a:rPr>
              <a:t> Price</a:t>
            </a:r>
            <a:endParaRPr sz="16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92240" y="2276856"/>
            <a:ext cx="1416670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 err="1">
                <a:solidFill>
                  <a:srgbClr val="A9B8C9"/>
                </a:solidFill>
                <a:latin typeface="Aptos"/>
              </a:rPr>
              <a:t>vhigh</a:t>
            </a:r>
            <a:r>
              <a:rPr sz="1200" b="0" i="0" dirty="0">
                <a:solidFill>
                  <a:srgbClr val="A9B8C9"/>
                </a:solidFill>
                <a:latin typeface="Aptos"/>
              </a:rPr>
              <a:t>/high/med/low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1874519"/>
            <a:ext cx="2240280" cy="713232"/>
          </a:xfrm>
          <a:prstGeom prst="roundRect">
            <a:avLst/>
          </a:prstGeom>
          <a:solidFill>
            <a:srgbClr val="071A2D"/>
          </a:solidFill>
          <a:ln w="1016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06840" y="1984248"/>
            <a:ext cx="1759905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Aptos"/>
              </a:rPr>
              <a:t>Maintenance cost</a:t>
            </a:r>
            <a:endParaRPr sz="16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06840" y="2276856"/>
            <a:ext cx="1416670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vhigh/high/med/low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2935224"/>
            <a:ext cx="2240280" cy="713232"/>
          </a:xfrm>
          <a:prstGeom prst="roundRect">
            <a:avLst/>
          </a:prstGeom>
          <a:solidFill>
            <a:srgbClr val="071A2D"/>
          </a:solidFill>
          <a:ln w="1016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3044952"/>
            <a:ext cx="1654877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Aptos"/>
              </a:rPr>
              <a:t>Number of </a:t>
            </a:r>
            <a:r>
              <a:rPr sz="1600" b="1" i="0" dirty="0">
                <a:solidFill>
                  <a:srgbClr val="FFFFFF"/>
                </a:solidFill>
                <a:latin typeface="Aptos"/>
              </a:rPr>
              <a:t>doors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337560"/>
            <a:ext cx="925382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>
                <a:solidFill>
                  <a:srgbClr val="A9B8C9"/>
                </a:solidFill>
                <a:latin typeface="Aptos"/>
              </a:rPr>
              <a:t>2/3/4/5more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2935224"/>
            <a:ext cx="2240280" cy="713232"/>
          </a:xfrm>
          <a:prstGeom prst="roundRect">
            <a:avLst/>
          </a:prstGeom>
          <a:solidFill>
            <a:srgbClr val="071A2D"/>
          </a:solidFill>
          <a:ln w="1016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06840" y="3044952"/>
            <a:ext cx="1901098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ptos"/>
              </a:rPr>
              <a:t>Passenger capacity</a:t>
            </a:r>
            <a:endParaRPr sz="16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06840" y="3337560"/>
            <a:ext cx="707501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2/4/more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3995927"/>
            <a:ext cx="2240280" cy="713232"/>
          </a:xfrm>
          <a:prstGeom prst="roundRect">
            <a:avLst/>
          </a:prstGeom>
          <a:solidFill>
            <a:srgbClr val="071A2D"/>
          </a:solidFill>
          <a:ln w="1016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4105655"/>
            <a:ext cx="1772921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Aptos"/>
              </a:rPr>
              <a:t>L</a:t>
            </a:r>
            <a:r>
              <a:rPr sz="1600" b="1" i="0" dirty="0">
                <a:solidFill>
                  <a:srgbClr val="FFFFFF"/>
                </a:solidFill>
                <a:latin typeface="Aptos"/>
              </a:rPr>
              <a:t>ug</a:t>
            </a:r>
            <a:r>
              <a:rPr lang="en-US" sz="1600" b="1" i="0" dirty="0">
                <a:solidFill>
                  <a:srgbClr val="FFFFFF"/>
                </a:solidFill>
                <a:latin typeface="Aptos"/>
              </a:rPr>
              <a:t>gage </a:t>
            </a:r>
            <a:r>
              <a:rPr sz="1600" b="1" i="0" dirty="0">
                <a:solidFill>
                  <a:srgbClr val="FFFFFF"/>
                </a:solidFill>
                <a:latin typeface="Aptos"/>
              </a:rPr>
              <a:t>boot</a:t>
            </a:r>
            <a:r>
              <a:rPr lang="en-US" sz="1600" b="1" i="0" dirty="0">
                <a:solidFill>
                  <a:srgbClr val="FFFFFF"/>
                </a:solidFill>
                <a:latin typeface="Aptos"/>
              </a:rPr>
              <a:t> size </a:t>
            </a:r>
            <a:endParaRPr sz="16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92240" y="4398264"/>
            <a:ext cx="1063881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small/med/big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3995927"/>
            <a:ext cx="2240280" cy="713232"/>
          </a:xfrm>
          <a:prstGeom prst="roundRect">
            <a:avLst/>
          </a:prstGeom>
          <a:solidFill>
            <a:srgbClr val="071A2D"/>
          </a:solidFill>
          <a:ln w="1016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06840" y="4105655"/>
            <a:ext cx="1174873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Aptos"/>
              </a:rPr>
              <a:t>S</a:t>
            </a:r>
            <a:r>
              <a:rPr sz="1600" b="1" i="0" dirty="0">
                <a:solidFill>
                  <a:srgbClr val="FFFFFF"/>
                </a:solidFill>
                <a:latin typeface="Aptos"/>
              </a:rPr>
              <a:t>afety</a:t>
            </a:r>
            <a:r>
              <a:rPr lang="en-US" sz="1600" b="1" i="0" dirty="0">
                <a:solidFill>
                  <a:srgbClr val="FFFFFF"/>
                </a:solidFill>
                <a:latin typeface="Aptos"/>
              </a:rPr>
              <a:t> level</a:t>
            </a:r>
            <a:endParaRPr sz="16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06840" y="4398264"/>
            <a:ext cx="1012713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low/med/high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10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6574536"/>
            <a:ext cx="512064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9B8C9"/>
                </a:solidFill>
                <a:latin typeface="Aptos"/>
              </a:rPr>
              <a:t>COE 292 | Team S12_6 | Car Evaluation Dataset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9768" y="393192"/>
            <a:ext cx="54864" cy="502920"/>
          </a:xfrm>
          <a:prstGeom prst="rect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046720" cy="50292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dirty="0">
                <a:solidFill>
                  <a:srgbClr val="FFFFFF"/>
                </a:solidFill>
                <a:latin typeface="Aptos Display"/>
              </a:rPr>
              <a:t>Dataset Exploration </a:t>
            </a:r>
            <a:r>
              <a:rPr lang="en-US" sz="2500" b="1" i="0" dirty="0">
                <a:solidFill>
                  <a:srgbClr val="FFFFFF"/>
                </a:solidFill>
                <a:latin typeface="Aptos Display"/>
              </a:rPr>
              <a:t>&amp; Class Balance</a:t>
            </a:r>
            <a:endParaRPr sz="25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84280" y="6355080"/>
            <a:ext cx="41148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9B8C9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938" y="1192751"/>
            <a:ext cx="5468111" cy="412502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85" y="1518051"/>
            <a:ext cx="4607979" cy="335270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629400" y="1078992"/>
            <a:ext cx="4800600" cy="4343400"/>
          </a:xfrm>
          <a:prstGeom prst="roundRect">
            <a:avLst/>
          </a:prstGeom>
          <a:solidFill>
            <a:srgbClr val="102F4E"/>
          </a:solidFill>
          <a:ln w="1524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325880"/>
            <a:ext cx="1531701" cy="252377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E8B45C"/>
                </a:solidFill>
                <a:latin typeface="Aptos"/>
              </a:rPr>
              <a:t>Dataset </a:t>
            </a:r>
            <a:r>
              <a:rPr lang="en-US" sz="1400" b="1" dirty="0">
                <a:solidFill>
                  <a:srgbClr val="E8B45C"/>
                </a:solidFill>
                <a:latin typeface="Aptos"/>
              </a:rPr>
              <a:t>Overview</a:t>
            </a:r>
            <a:endParaRPr sz="1400" b="1" i="0" dirty="0">
              <a:solidFill>
                <a:srgbClr val="E8B45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903720" y="1783080"/>
            <a:ext cx="1874519" cy="749808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18106" y="1947672"/>
            <a:ext cx="845744" cy="406265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 dirty="0">
                <a:solidFill>
                  <a:srgbClr val="FFFFFF"/>
                </a:solidFill>
                <a:latin typeface="Aptos"/>
              </a:rPr>
              <a:t>1,728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139" y="2301501"/>
            <a:ext cx="741678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instances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783080"/>
            <a:ext cx="1874519" cy="749808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1947672"/>
            <a:ext cx="1691639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2625" y="2267712"/>
            <a:ext cx="1403381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categorical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2761488"/>
            <a:ext cx="1874519" cy="749808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03114" y="2917560"/>
            <a:ext cx="257443" cy="406265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3762" y="3240458"/>
            <a:ext cx="1019253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target classes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2761488"/>
            <a:ext cx="1874519" cy="749808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61098" y="2926080"/>
            <a:ext cx="257443" cy="406265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2589" y="3240458"/>
            <a:ext cx="1074460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missing values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968496"/>
            <a:ext cx="4251960" cy="1097280"/>
          </a:xfrm>
          <a:prstGeom prst="roundRect">
            <a:avLst/>
          </a:prstGeom>
          <a:solidFill>
            <a:srgbClr val="071A2D"/>
          </a:solidFill>
          <a:ln w="1143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36078" y="4032855"/>
            <a:ext cx="1227772" cy="252377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16D9C7"/>
                </a:solidFill>
                <a:latin typeface="Aptos"/>
              </a:rPr>
              <a:t>Interpretation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3176" y="4285232"/>
            <a:ext cx="3813047" cy="6832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ptos"/>
              </a:rPr>
              <a:t>Im</a:t>
            </a:r>
            <a:r>
              <a:rPr lang="en-US" sz="1400" b="0" i="0" dirty="0">
                <a:solidFill>
                  <a:schemeClr val="bg1"/>
                </a:solidFill>
                <a:latin typeface="Aptos"/>
              </a:rPr>
              <a:t>balanced</a:t>
            </a:r>
            <a:r>
              <a:rPr lang="en-US" sz="1400" dirty="0">
                <a:solidFill>
                  <a:schemeClr val="bg1"/>
                </a:solidFill>
              </a:rPr>
              <a:t> dataset: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unacc</a:t>
            </a:r>
            <a:r>
              <a:rPr lang="en-US" sz="1400" dirty="0">
                <a:solidFill>
                  <a:schemeClr val="bg1"/>
                </a:solidFill>
              </a:rPr>
              <a:t> = </a:t>
            </a:r>
            <a:r>
              <a:rPr lang="en-US" sz="1400" b="1" dirty="0">
                <a:solidFill>
                  <a:schemeClr val="bg1"/>
                </a:solidFill>
              </a:rPr>
              <a:t>70% </a:t>
            </a:r>
            <a:r>
              <a:rPr lang="en-US" sz="1400" dirty="0">
                <a:solidFill>
                  <a:schemeClr val="bg1"/>
                </a:solidFill>
              </a:rPr>
              <a:t>→ minority classes are harder to predict</a:t>
            </a:r>
            <a:endParaRPr sz="1400" b="0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10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6574536"/>
            <a:ext cx="512064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9B8C9"/>
                </a:solidFill>
                <a:latin typeface="Aptos"/>
              </a:rPr>
              <a:t>COE 292 | Team S12_6 | Car Evaluation Dataset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6437" cy="75398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9768" y="393192"/>
            <a:ext cx="54864" cy="502920"/>
          </a:xfrm>
          <a:prstGeom prst="rect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4765792" cy="4216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500" b="1" dirty="0">
                <a:solidFill>
                  <a:srgbClr val="FFFFFF"/>
                </a:solidFill>
                <a:latin typeface="Aptos Display"/>
              </a:rPr>
              <a:t>Data</a:t>
            </a:r>
            <a:r>
              <a:rPr sz="2500" b="1" i="0" dirty="0">
                <a:solidFill>
                  <a:srgbClr val="FFFFFF"/>
                </a:solidFill>
                <a:latin typeface="Aptos Display"/>
              </a:rPr>
              <a:t> Visualization &amp; 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355080"/>
            <a:ext cx="41148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9B8C9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033271"/>
            <a:ext cx="6425239" cy="4188983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26679" y="1078992"/>
            <a:ext cx="3611880" cy="960120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73568" y="1243584"/>
            <a:ext cx="1702967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ptos"/>
              </a:rPr>
              <a:t>Safety is decisive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9165" y="1508021"/>
            <a:ext cx="3179083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8D5E0"/>
                </a:solidFill>
                <a:latin typeface="Aptos"/>
              </a:rPr>
              <a:t>All low-safety cars are unacceptable in the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340863"/>
            <a:ext cx="3611880" cy="960120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73568" y="2505456"/>
            <a:ext cx="1702261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ptos"/>
              </a:rPr>
              <a:t>Capacity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7607" y="2768020"/>
            <a:ext cx="3373272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8D5E0"/>
                </a:solidFill>
                <a:latin typeface="Aptos"/>
              </a:rPr>
              <a:t>Cars with only 2 persons are all classified as unacceptable.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602735"/>
            <a:ext cx="3611880" cy="960120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8" y="3767327"/>
            <a:ext cx="1656864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FFFFFF"/>
                </a:solidFill>
                <a:latin typeface="Aptos"/>
              </a:rPr>
              <a:t>Minority classes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7607" y="4051622"/>
            <a:ext cx="3404223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C8D5E0"/>
                </a:solidFill>
                <a:latin typeface="Aptos"/>
              </a:rPr>
              <a:t>good/</a:t>
            </a:r>
            <a:r>
              <a:rPr sz="1400" b="0" i="0" dirty="0" err="1">
                <a:solidFill>
                  <a:srgbClr val="C8D5E0"/>
                </a:solidFill>
                <a:latin typeface="Aptos"/>
              </a:rPr>
              <a:t>vgood</a:t>
            </a:r>
            <a:r>
              <a:rPr sz="1400" b="0" i="0" dirty="0">
                <a:solidFill>
                  <a:srgbClr val="C8D5E0"/>
                </a:solidFill>
                <a:latin typeface="Aptos"/>
              </a:rPr>
              <a:t> appear under stronger safety and </a:t>
            </a:r>
            <a:r>
              <a:rPr lang="en-US" sz="1400" b="0" i="0" dirty="0">
                <a:solidFill>
                  <a:srgbClr val="C8D5E0"/>
                </a:solidFill>
                <a:latin typeface="Aptos"/>
              </a:rPr>
              <a:t>high passenger capacity</a:t>
            </a:r>
            <a:r>
              <a:rPr sz="1400" b="0" i="0" dirty="0">
                <a:solidFill>
                  <a:srgbClr val="C8D5E0"/>
                </a:solidFill>
                <a:latin typeface="Aptos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10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6574536"/>
            <a:ext cx="512064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9B8C9"/>
                </a:solidFill>
                <a:latin typeface="Aptos"/>
              </a:rPr>
              <a:t>COE 292 | Team S12_6 | Car Evaluation Dataset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6F68A48-FBE7-59EE-7625-9886D90B0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517" y="1369579"/>
            <a:ext cx="5698939" cy="351636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9768" y="393192"/>
            <a:ext cx="54864" cy="502920"/>
          </a:xfrm>
          <a:prstGeom prst="rect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4979633" cy="4216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500" b="1" dirty="0">
                <a:solidFill>
                  <a:srgbClr val="FFFFFF"/>
                </a:solidFill>
                <a:latin typeface="Aptos Display"/>
              </a:rPr>
              <a:t>Preprocessing</a:t>
            </a:r>
            <a:r>
              <a:rPr sz="2500" b="1" i="0" dirty="0">
                <a:solidFill>
                  <a:srgbClr val="FFFFFF"/>
                </a:solidFill>
                <a:latin typeface="Aptos Display"/>
              </a:rPr>
              <a:t> &amp; Evaluation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355080"/>
            <a:ext cx="41148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9B8C9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9" y="1125207"/>
            <a:ext cx="11435212" cy="1837138"/>
          </a:xfrm>
          <a:prstGeom prst="roundRect">
            <a:avLst/>
          </a:prstGeom>
          <a:solidFill>
            <a:srgbClr val="102F4E"/>
          </a:solidFill>
          <a:ln w="1524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67926" y="1581912"/>
            <a:ext cx="1481498" cy="658368"/>
          </a:xfrm>
          <a:prstGeom prst="roundRect">
            <a:avLst/>
          </a:prstGeom>
          <a:solidFill>
            <a:srgbClr val="071A2D"/>
          </a:solidFill>
          <a:ln w="1016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03809" y="1607539"/>
            <a:ext cx="1408289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ptos"/>
              </a:rPr>
              <a:t>Raw categorical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8481" y="2050366"/>
            <a:ext cx="648575" cy="190821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A9B8C9"/>
                </a:solidFill>
                <a:latin typeface="Aptos"/>
              </a:rPr>
              <a:t>6 features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1901952"/>
            <a:ext cx="274320" cy="0"/>
          </a:xfrm>
          <a:prstGeom prst="line">
            <a:avLst/>
          </a:prstGeom>
          <a:ln w="25400">
            <a:solidFill>
              <a:srgbClr val="E8B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31376" y="1773936"/>
            <a:ext cx="228600" cy="25603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8B45C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9475" y="1581912"/>
            <a:ext cx="1485597" cy="643883"/>
          </a:xfrm>
          <a:prstGeom prst="roundRect">
            <a:avLst/>
          </a:prstGeom>
          <a:solidFill>
            <a:srgbClr val="071A2D"/>
          </a:solidFill>
          <a:ln w="1016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51760" y="1607539"/>
            <a:ext cx="126947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ptos"/>
              </a:rPr>
              <a:t>One-Hot Encoding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1408" y="2025894"/>
            <a:ext cx="1065408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i="0" dirty="0">
                <a:solidFill>
                  <a:srgbClr val="A9B8C9"/>
                </a:solidFill>
                <a:latin typeface="Aptos"/>
              </a:rPr>
              <a:t>No false order</a:t>
            </a:r>
            <a:endParaRPr sz="1000" b="0" i="0" dirty="0">
              <a:solidFill>
                <a:srgbClr val="A9B8C9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041648" y="1901952"/>
            <a:ext cx="274320" cy="0"/>
          </a:xfrm>
          <a:prstGeom prst="line">
            <a:avLst/>
          </a:prstGeom>
          <a:ln w="25400">
            <a:solidFill>
              <a:srgbClr val="E8B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96512" y="1762959"/>
            <a:ext cx="228600" cy="25603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E8B45C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222" y="1581912"/>
            <a:ext cx="1481498" cy="658353"/>
          </a:xfrm>
          <a:prstGeom prst="roundRect">
            <a:avLst/>
          </a:prstGeom>
          <a:solidFill>
            <a:srgbClr val="071A2D"/>
          </a:solidFill>
          <a:ln w="1016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5995" y="1674263"/>
            <a:ext cx="1390164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 err="1">
                <a:solidFill>
                  <a:srgbClr val="FFFFFF"/>
                </a:solidFill>
                <a:latin typeface="Aptos"/>
              </a:rPr>
              <a:t>Standard</a:t>
            </a:r>
            <a:r>
              <a:rPr lang="en-US" sz="1400" b="1" i="0" dirty="0" err="1">
                <a:solidFill>
                  <a:srgbClr val="FFFFFF"/>
                </a:solidFill>
                <a:latin typeface="Aptos"/>
              </a:rPr>
              <a:t>Scaler</a:t>
            </a:r>
            <a:r>
              <a:rPr lang="en-US" sz="1400" b="1" i="0" dirty="0">
                <a:solidFill>
                  <a:srgbClr val="FFFFFF"/>
                </a:solidFill>
                <a:latin typeface="Aptos"/>
              </a:rPr>
              <a:t> </a:t>
            </a:r>
            <a:endParaRPr sz="14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28096" y="1965604"/>
            <a:ext cx="1570302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i="0" dirty="0">
                <a:solidFill>
                  <a:srgbClr val="A9B8C9"/>
                </a:solidFill>
                <a:latin typeface="Aptos"/>
              </a:rPr>
              <a:t> for </a:t>
            </a:r>
            <a:r>
              <a:rPr sz="1000" b="0" i="0" dirty="0">
                <a:solidFill>
                  <a:srgbClr val="A9B8C9"/>
                </a:solidFill>
                <a:latin typeface="Aptos"/>
              </a:rPr>
              <a:t>scale-sensitive models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97296" y="1901952"/>
            <a:ext cx="274320" cy="0"/>
          </a:xfrm>
          <a:prstGeom prst="line">
            <a:avLst/>
          </a:prstGeom>
          <a:ln w="25400">
            <a:solidFill>
              <a:srgbClr val="E8B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61306" y="1762959"/>
            <a:ext cx="228600" cy="25603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E8B45C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43924" y="1581912"/>
            <a:ext cx="1472444" cy="658337"/>
          </a:xfrm>
          <a:prstGeom prst="roundRect">
            <a:avLst/>
          </a:prstGeom>
          <a:solidFill>
            <a:srgbClr val="071A2D"/>
          </a:solidFill>
          <a:ln w="1016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81063" y="1590805"/>
            <a:ext cx="1320987" cy="47515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FFFFFF"/>
                </a:solidFill>
                <a:latin typeface="Aptos"/>
              </a:rPr>
              <a:t>Stratified 5-fold 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997985"/>
            <a:ext cx="1063753" cy="190821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A9B8C9"/>
                </a:solidFill>
                <a:latin typeface="Aptos"/>
              </a:rPr>
              <a:t>same class ratios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52944" y="1901952"/>
            <a:ext cx="274320" cy="0"/>
          </a:xfrm>
          <a:prstGeom prst="line">
            <a:avLst/>
          </a:prstGeom>
          <a:ln w="25400">
            <a:solidFill>
              <a:srgbClr val="E8B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97505" y="1773936"/>
            <a:ext cx="228600" cy="25603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E8B45C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90518" y="1581912"/>
            <a:ext cx="1481498" cy="658322"/>
          </a:xfrm>
          <a:prstGeom prst="roundRect">
            <a:avLst/>
          </a:prstGeom>
          <a:solidFill>
            <a:srgbClr val="071A2D"/>
          </a:solidFill>
          <a:ln w="1016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190" y="1672435"/>
            <a:ext cx="1138517" cy="252377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FFFFFF"/>
                </a:solidFill>
                <a:latin typeface="Aptos"/>
              </a:rPr>
              <a:t>Train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6209" y="2002536"/>
            <a:ext cx="1055738" cy="190821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A9B8C9"/>
                </a:solidFill>
                <a:latin typeface="Aptos"/>
              </a:rPr>
              <a:t>KNN • SVM • MLP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08592" y="1901952"/>
            <a:ext cx="274320" cy="0"/>
          </a:xfrm>
          <a:prstGeom prst="line">
            <a:avLst/>
          </a:prstGeom>
          <a:ln w="25400">
            <a:solidFill>
              <a:srgbClr val="E8B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472120" y="1762959"/>
            <a:ext cx="228600" cy="25603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E8B45C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077" y="1611819"/>
            <a:ext cx="1615608" cy="685489"/>
          </a:xfrm>
          <a:prstGeom prst="roundRect">
            <a:avLst/>
          </a:prstGeom>
          <a:solidFill>
            <a:srgbClr val="071A2D"/>
          </a:solidFill>
          <a:ln w="1016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10571" y="1695133"/>
            <a:ext cx="1450525" cy="252377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FFFFFF"/>
                </a:solidFill>
                <a:latin typeface="Aptos"/>
              </a:rPr>
              <a:t>Evaluate</a:t>
            </a:r>
            <a:r>
              <a:rPr lang="en-US" sz="1400" b="1" i="0" dirty="0">
                <a:solidFill>
                  <a:srgbClr val="FFFFFF"/>
                </a:solidFill>
                <a:latin typeface="Aptos"/>
              </a:rPr>
              <a:t> models</a:t>
            </a:r>
            <a:endParaRPr sz="14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665414" y="1993112"/>
            <a:ext cx="1556395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 dirty="0">
                <a:solidFill>
                  <a:srgbClr val="A9B8C9"/>
                </a:solidFill>
                <a:latin typeface="Aptos"/>
              </a:rPr>
              <a:t>metrics + confusion matri</a:t>
            </a:r>
            <a:r>
              <a:rPr lang="en-US" sz="1000" b="0" i="0" dirty="0">
                <a:solidFill>
                  <a:srgbClr val="A9B8C9"/>
                </a:solidFill>
                <a:latin typeface="Aptos"/>
              </a:rPr>
              <a:t>x</a:t>
            </a:r>
            <a:endParaRPr sz="1000" b="0" i="0" dirty="0">
              <a:solidFill>
                <a:srgbClr val="A9B8C9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29768" y="3364992"/>
            <a:ext cx="5532120" cy="2395728"/>
          </a:xfrm>
          <a:prstGeom prst="roundRect">
            <a:avLst/>
          </a:prstGeom>
          <a:solidFill>
            <a:srgbClr val="102F4E"/>
          </a:solidFill>
          <a:ln w="1397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2688" y="3593592"/>
            <a:ext cx="2303323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E8B45C"/>
                </a:solidFill>
                <a:latin typeface="Aptos"/>
              </a:rPr>
              <a:t>Preprocessing rationale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78" y="3970524"/>
            <a:ext cx="4736592" cy="121264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 One-Hot Encoding avoids </a:t>
            </a:r>
            <a:r>
              <a:rPr lang="en-US" sz="1600" dirty="0">
                <a:solidFill>
                  <a:srgbClr val="C8D5E0"/>
                </a:solidFill>
                <a:latin typeface="Aptos"/>
              </a:rPr>
              <a:t>false ordering</a:t>
            </a:r>
            <a:endParaRPr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 Scaling is applied after encoding because KNN, SVM, and MLP are scale-sensitive.</a:t>
            </a: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 </a:t>
            </a:r>
            <a:r>
              <a:rPr lang="en-US" sz="1600" dirty="0">
                <a:solidFill>
                  <a:srgbClr val="C8D5E0"/>
                </a:solidFill>
                <a:latin typeface="Aptos"/>
              </a:rPr>
              <a:t>Applied</a:t>
            </a:r>
            <a:r>
              <a:rPr sz="1600" dirty="0">
                <a:solidFill>
                  <a:srgbClr val="C8D5E0"/>
                </a:solidFill>
                <a:latin typeface="Aptos"/>
              </a:rPr>
              <a:t> inside each fold to prevent data leakage.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364992"/>
            <a:ext cx="5647060" cy="2395728"/>
          </a:xfrm>
          <a:prstGeom prst="roundRect">
            <a:avLst/>
          </a:prstGeom>
          <a:solidFill>
            <a:srgbClr val="102F4E"/>
          </a:solidFill>
          <a:ln w="1397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3593592"/>
            <a:ext cx="1548501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D9C7"/>
                </a:solidFill>
                <a:latin typeface="Aptos"/>
              </a:rPr>
              <a:t>Model rationale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8299" y="3977639"/>
            <a:ext cx="1445813" cy="310898"/>
          </a:xfrm>
          <a:prstGeom prst="roundRect">
            <a:avLst/>
          </a:prstGeom>
          <a:solidFill>
            <a:srgbClr val="071A2D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72368" y="3991511"/>
            <a:ext cx="518733" cy="283154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ptos"/>
              </a:rPr>
              <a:t>KNN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44491" y="4014215"/>
            <a:ext cx="2471061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 dirty="0">
                <a:solidFill>
                  <a:srgbClr val="C8D5E0"/>
                </a:solidFill>
                <a:latin typeface="Aptos"/>
              </a:rPr>
              <a:t> </a:t>
            </a:r>
            <a:r>
              <a:rPr sz="1600" b="0" i="1">
                <a:solidFill>
                  <a:srgbClr val="C8D5E0"/>
                </a:solidFill>
                <a:latin typeface="Aptos"/>
              </a:rPr>
              <a:t>distance</a:t>
            </a:r>
            <a:r>
              <a:rPr lang="en-US" sz="1600" b="0" i="1">
                <a:solidFill>
                  <a:srgbClr val="C8D5E0"/>
                </a:solidFill>
                <a:latin typeface="Aptos"/>
              </a:rPr>
              <a:t> - </a:t>
            </a:r>
            <a:r>
              <a:rPr lang="en-US" sz="1600" b="0" i="1" dirty="0">
                <a:solidFill>
                  <a:srgbClr val="C8D5E0"/>
                </a:solidFill>
                <a:latin typeface="Aptos"/>
              </a:rPr>
              <a:t>based baseline</a:t>
            </a:r>
            <a:endParaRPr sz="1600" b="0" i="1" dirty="0">
              <a:solidFill>
                <a:srgbClr val="C8D5E0"/>
              </a:solidFill>
              <a:latin typeface="Apto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308299" y="4480559"/>
            <a:ext cx="1445813" cy="297026"/>
          </a:xfrm>
          <a:prstGeom prst="roundRect">
            <a:avLst/>
          </a:prstGeom>
          <a:solidFill>
            <a:srgbClr val="071A2D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77242" y="4494431"/>
            <a:ext cx="508985" cy="283154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ptos"/>
              </a:rPr>
              <a:t>SVM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1226" y="4512517"/>
            <a:ext cx="2944460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 dirty="0">
                <a:solidFill>
                  <a:srgbClr val="C8D5E0"/>
                </a:solidFill>
                <a:latin typeface="Aptos"/>
              </a:rPr>
              <a:t>tests linear vs non-linear kernels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8299" y="4983478"/>
            <a:ext cx="1445813" cy="337836"/>
          </a:xfrm>
          <a:prstGeom prst="roundRect">
            <a:avLst/>
          </a:prstGeom>
          <a:solidFill>
            <a:srgbClr val="071A2D"/>
          </a:solidFill>
          <a:ln w="1270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08299" y="4997351"/>
            <a:ext cx="1518965" cy="2831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FFFFFF"/>
                </a:solidFill>
                <a:latin typeface="Aptos"/>
              </a:rPr>
              <a:t>MLP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44491" y="5010819"/>
            <a:ext cx="3041217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8D5E0"/>
                </a:solidFill>
                <a:latin typeface="Aptos"/>
              </a:rPr>
              <a:t> captures nonlinear relationships </a:t>
            </a:r>
            <a:endParaRPr sz="1600" b="0" i="1" dirty="0">
              <a:solidFill>
                <a:srgbClr val="C8D5E0"/>
              </a:solidFill>
              <a:latin typeface="Apto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10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0352" y="6574536"/>
            <a:ext cx="512064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9B8C9"/>
                </a:solidFill>
                <a:latin typeface="Aptos"/>
              </a:rPr>
              <a:t>COE 292 | Team S12_6 | Car Evaluation Dataset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9768" y="393192"/>
            <a:ext cx="54864" cy="502920"/>
          </a:xfrm>
          <a:prstGeom prst="rect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7348550" cy="4216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dirty="0">
                <a:solidFill>
                  <a:srgbClr val="FFFFFF"/>
                </a:solidFill>
                <a:latin typeface="Aptos Display"/>
              </a:rPr>
              <a:t> K-Nearest Neighbors (KNN)</a:t>
            </a:r>
            <a:r>
              <a:rPr lang="en-US" sz="2500" b="1" i="0" dirty="0">
                <a:solidFill>
                  <a:srgbClr val="FFFFFF"/>
                </a:solidFill>
                <a:latin typeface="Aptos Display"/>
              </a:rPr>
              <a:t> using Euclidean distance</a:t>
            </a:r>
            <a:endParaRPr sz="25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84280" y="6355080"/>
            <a:ext cx="41148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9B8C9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078992"/>
            <a:ext cx="1143000" cy="868680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243584"/>
            <a:ext cx="96012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0.9057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794" y="1560397"/>
            <a:ext cx="96012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A9B8C9"/>
                </a:solidFill>
                <a:latin typeface="Aptos"/>
              </a:rPr>
              <a:t>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66543" y="1078992"/>
            <a:ext cx="1143000" cy="868680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57984" y="1243584"/>
            <a:ext cx="96012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0.8981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1563624"/>
            <a:ext cx="96012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A9B8C9"/>
                </a:solidFill>
                <a:latin typeface="Aptos"/>
              </a:rPr>
              <a:t>F1-score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9856" y="1078992"/>
            <a:ext cx="1143000" cy="868680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079" y="1243584"/>
            <a:ext cx="850553" cy="34471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FF0000"/>
                </a:solidFill>
                <a:latin typeface="Aptos"/>
              </a:rPr>
              <a:t>0.6751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3676" y="1597987"/>
            <a:ext cx="96012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 dirty="0">
                <a:solidFill>
                  <a:srgbClr val="A9B8C9"/>
                </a:solidFill>
                <a:latin typeface="Aptos"/>
              </a:rPr>
              <a:t>Sensitivity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73168" y="1078992"/>
            <a:ext cx="1143000" cy="868680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64607" y="1243584"/>
            <a:ext cx="96012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0.9493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3564" y="1572767"/>
            <a:ext cx="96012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A9B8C9"/>
                </a:solidFill>
                <a:latin typeface="Aptos"/>
              </a:rPr>
              <a:t>Specificity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2157984"/>
            <a:ext cx="4365916" cy="239435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knn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472" y="2336438"/>
            <a:ext cx="3575384" cy="208906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053328" y="1078992"/>
            <a:ext cx="4870311" cy="3273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knn_conf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867" y="1312622"/>
            <a:ext cx="3959432" cy="2788449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48640" y="4877237"/>
            <a:ext cx="10835640" cy="566928"/>
          </a:xfrm>
          <a:prstGeom prst="roundRect">
            <a:avLst/>
          </a:prstGeom>
          <a:solidFill>
            <a:srgbClr val="0B233C"/>
          </a:solidFill>
          <a:ln w="1143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2956" y="4910222"/>
            <a:ext cx="10218163" cy="546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600" b="1" i="0" dirty="0">
                <a:solidFill>
                  <a:srgbClr val="16D9C7"/>
                </a:solidFill>
                <a:latin typeface="Aptos"/>
              </a:rPr>
              <a:t>Key </a:t>
            </a:r>
            <a:r>
              <a:rPr sz="1600" b="1" i="0" dirty="0">
                <a:solidFill>
                  <a:srgbClr val="16D9C7"/>
                </a:solidFill>
                <a:latin typeface="Aptos"/>
              </a:rPr>
              <a:t>In</a:t>
            </a:r>
            <a:r>
              <a:rPr lang="en-US" sz="1600" b="1" i="0" dirty="0">
                <a:solidFill>
                  <a:srgbClr val="16D9C7"/>
                </a:solidFill>
                <a:latin typeface="Aptos"/>
              </a:rPr>
              <a:t>sight</a:t>
            </a:r>
            <a:r>
              <a:rPr sz="1600" b="1" i="0" dirty="0">
                <a:solidFill>
                  <a:srgbClr val="16D9C7"/>
                </a:solidFill>
                <a:latin typeface="Aptos"/>
              </a:rPr>
              <a:t>: </a:t>
            </a:r>
            <a:r>
              <a:rPr sz="1600" b="0" i="0" dirty="0">
                <a:solidFill>
                  <a:srgbClr val="FFFFFF"/>
                </a:solidFill>
                <a:latin typeface="Aptos"/>
              </a:rPr>
              <a:t>K=9</a:t>
            </a:r>
            <a:r>
              <a:rPr lang="en-US" sz="1600" b="0" i="0" dirty="0">
                <a:solidFill>
                  <a:srgbClr val="FFFFFF"/>
                </a:solidFill>
                <a:latin typeface="Aptos"/>
              </a:rPr>
              <a:t> performs</a:t>
            </a:r>
            <a:r>
              <a:rPr lang="en-US" sz="1600" dirty="0">
                <a:solidFill>
                  <a:srgbClr val="FFFFFF"/>
                </a:solidFill>
                <a:latin typeface="Aptos"/>
              </a:rPr>
              <a:t> best with high accuracy</a:t>
            </a:r>
            <a:r>
              <a:rPr sz="1600" b="0" i="0" dirty="0">
                <a:solidFill>
                  <a:srgbClr val="FFFFFF"/>
                </a:solidFill>
                <a:latin typeface="Aptos"/>
              </a:rPr>
              <a:t>, but low sensitivity shows difficulty with minority classes such as good/</a:t>
            </a:r>
            <a:r>
              <a:rPr sz="1600" b="0" i="0" dirty="0" err="1">
                <a:solidFill>
                  <a:srgbClr val="FFFFFF"/>
                </a:solidFill>
                <a:latin typeface="Aptos"/>
              </a:rPr>
              <a:t>vgood</a:t>
            </a:r>
            <a:r>
              <a:rPr sz="1600" b="0" i="0" dirty="0">
                <a:solidFill>
                  <a:srgbClr val="FFFFFF"/>
                </a:solidFill>
                <a:latin typeface="Aptos"/>
              </a:rPr>
              <a:t>.</a:t>
            </a:r>
            <a:endParaRPr lang="en-US" sz="1600" b="0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10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74536"/>
            <a:ext cx="512064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9B8C9"/>
                </a:solidFill>
                <a:latin typeface="Aptos"/>
              </a:rPr>
              <a:t>COE 292 | Team S12_6 | Car Evaluation Dataset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9768" y="393192"/>
            <a:ext cx="54864" cy="502920"/>
          </a:xfrm>
          <a:prstGeom prst="rect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4333879" cy="4216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dirty="0">
                <a:solidFill>
                  <a:srgbClr val="FFFFFF"/>
                </a:solidFill>
                <a:latin typeface="Aptos Display"/>
              </a:rPr>
              <a:t> Support Vector Machine (SVM)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355080"/>
            <a:ext cx="41148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9B8C9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078992"/>
            <a:ext cx="56692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37960" y="1078992"/>
            <a:ext cx="1234440" cy="786384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243584"/>
            <a:ext cx="105156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0.9757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7150" y="1507689"/>
            <a:ext cx="707758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078992"/>
            <a:ext cx="1234440" cy="786384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243584"/>
            <a:ext cx="105156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0.9753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3240" y="1536192"/>
            <a:ext cx="678519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F1-score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020824"/>
            <a:ext cx="1234440" cy="786384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185416"/>
            <a:ext cx="105156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0.9190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7112" y="2471448"/>
            <a:ext cx="768800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Sensitivity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2020824"/>
            <a:ext cx="1234440" cy="786384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0" y="2185416"/>
            <a:ext cx="105156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0.9927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0885" y="2475881"/>
            <a:ext cx="783228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Specificity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944368"/>
            <a:ext cx="4490392" cy="23500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vm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112" y="3115809"/>
            <a:ext cx="3763296" cy="180811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0B233C"/>
          </a:solidFill>
          <a:ln w="1143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16710"/>
            <a:ext cx="10835640" cy="546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E8B45C"/>
                </a:solidFill>
                <a:latin typeface="Aptos"/>
              </a:rPr>
              <a:t>Key Insight</a:t>
            </a:r>
            <a:r>
              <a:rPr sz="1600" b="1" i="0" dirty="0">
                <a:solidFill>
                  <a:srgbClr val="E8B45C"/>
                </a:solidFill>
                <a:latin typeface="Aptos"/>
              </a:rPr>
              <a:t>:</a:t>
            </a:r>
            <a:r>
              <a:rPr lang="en-US" sz="1600" b="1" i="0" dirty="0">
                <a:solidFill>
                  <a:srgbClr val="E8B45C"/>
                </a:solidFill>
                <a:latin typeface="Aptos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</a:rPr>
              <a:t>Polynomial SVM achieves the best overall performance, while RBF improves sensitivity for minority classes, indicating that nonlinear kernels capture complex decision boundaries with many support vectors.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10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74536"/>
            <a:ext cx="512064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9B8C9"/>
                </a:solidFill>
                <a:latin typeface="Aptos"/>
              </a:rPr>
              <a:t>COE 292 | Team S12_6 | Car Evaluation Dataset</a:t>
            </a:r>
          </a:p>
        </p:txBody>
      </p:sp>
      <p:pic>
        <p:nvPicPr>
          <p:cNvPr id="6" name="Picture 5" descr="svm_kernel_comparison_no_overlap.png">
            <a:extLst>
              <a:ext uri="{FF2B5EF4-FFF2-40B4-BE49-F238E27FC236}">
                <a16:creationId xmlns:a16="http://schemas.microsoft.com/office/drawing/2014/main" id="{428101E7-4A97-E1DA-6319-9EB3717EE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57" y="1392041"/>
            <a:ext cx="5321808" cy="370332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9768" y="393192"/>
            <a:ext cx="54864" cy="502920"/>
          </a:xfrm>
          <a:prstGeom prst="rect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3030253" cy="4216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500" b="1" i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lang="en-GB" sz="2500" b="1" i="0" dirty="0">
                <a:solidFill>
                  <a:srgbClr val="FFFFFF"/>
                </a:solidFill>
                <a:latin typeface="Aptos Display"/>
              </a:rPr>
              <a:t>MLP Neural</a:t>
            </a:r>
            <a:r>
              <a:rPr lang="en-US" sz="2500" b="1" i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lang="en-GB" sz="2500" b="1" i="0" dirty="0">
                <a:solidFill>
                  <a:srgbClr val="FFFFFF"/>
                </a:solidFill>
                <a:latin typeface="Aptos Display"/>
              </a:rPr>
              <a:t>Network </a:t>
            </a:r>
            <a:endParaRPr lang="en-US" sz="25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84280" y="6355080"/>
            <a:ext cx="41148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9B8C9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5550" y="1161288"/>
            <a:ext cx="5532120" cy="2788920"/>
          </a:xfrm>
          <a:prstGeom prst="roundRect">
            <a:avLst/>
          </a:prstGeom>
          <a:solidFill>
            <a:srgbClr val="102F4E"/>
          </a:solidFill>
          <a:ln w="1524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325880"/>
            <a:ext cx="2011680" cy="23774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D9C7"/>
                </a:solidFill>
                <a:latin typeface="Aptos"/>
              </a:rPr>
              <a:t>Network architecture</a:t>
            </a:r>
          </a:p>
        </p:txBody>
      </p:sp>
      <p:sp>
        <p:nvSpPr>
          <p:cNvPr id="11" name="Oval 10"/>
          <p:cNvSpPr/>
          <p:nvPr/>
        </p:nvSpPr>
        <p:spPr>
          <a:xfrm>
            <a:off x="1234440" y="1901952"/>
            <a:ext cx="164592" cy="164592"/>
          </a:xfrm>
          <a:prstGeom prst="ellipse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34440" y="2221991"/>
            <a:ext cx="164592" cy="164592"/>
          </a:xfrm>
          <a:prstGeom prst="ellipse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34440" y="2569463"/>
            <a:ext cx="164592" cy="164592"/>
          </a:xfrm>
          <a:prstGeom prst="ellipse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34440" y="2916936"/>
            <a:ext cx="164592" cy="164592"/>
          </a:xfrm>
          <a:prstGeom prst="ellipse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34440" y="3264408"/>
            <a:ext cx="164592" cy="164592"/>
          </a:xfrm>
          <a:prstGeom prst="ellipse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3429000"/>
            <a:ext cx="77724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39312"/>
            <a:ext cx="1078992" cy="29260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9B8C9"/>
                </a:solidFill>
                <a:latin typeface="Aptos"/>
              </a:rPr>
              <a:t>features after
One-Hot + scaling</a:t>
            </a:r>
          </a:p>
        </p:txBody>
      </p:sp>
      <p:sp>
        <p:nvSpPr>
          <p:cNvPr id="18" name="Oval 17"/>
          <p:cNvSpPr/>
          <p:nvPr/>
        </p:nvSpPr>
        <p:spPr>
          <a:xfrm>
            <a:off x="2880360" y="1737360"/>
            <a:ext cx="164592" cy="164592"/>
          </a:xfrm>
          <a:prstGeom prst="ellipse">
            <a:avLst/>
          </a:prstGeom>
          <a:solidFill>
            <a:srgbClr val="E8B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880360" y="2039112"/>
            <a:ext cx="164592" cy="164592"/>
          </a:xfrm>
          <a:prstGeom prst="ellipse">
            <a:avLst/>
          </a:prstGeom>
          <a:solidFill>
            <a:srgbClr val="E8B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880360" y="2340864"/>
            <a:ext cx="164592" cy="164592"/>
          </a:xfrm>
          <a:prstGeom prst="ellipse">
            <a:avLst/>
          </a:prstGeom>
          <a:solidFill>
            <a:srgbClr val="E8B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880360" y="2642615"/>
            <a:ext cx="164592" cy="164592"/>
          </a:xfrm>
          <a:prstGeom prst="ellipse">
            <a:avLst/>
          </a:prstGeom>
          <a:solidFill>
            <a:srgbClr val="E8B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880360" y="2944368"/>
            <a:ext cx="164592" cy="164592"/>
          </a:xfrm>
          <a:prstGeom prst="ellipse">
            <a:avLst/>
          </a:prstGeom>
          <a:solidFill>
            <a:srgbClr val="E8B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880360" y="3246120"/>
            <a:ext cx="164592" cy="164592"/>
          </a:xfrm>
          <a:prstGeom prst="ellipse">
            <a:avLst/>
          </a:prstGeom>
          <a:solidFill>
            <a:srgbClr val="E8B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24328" y="3429000"/>
            <a:ext cx="77724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Hidden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79" y="3639312"/>
            <a:ext cx="1078992" cy="29260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A9B8C9"/>
                </a:solidFill>
                <a:latin typeface="Aptos"/>
              </a:rPr>
              <a:t>30 neurons
ReLU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0" y="1874519"/>
            <a:ext cx="164592" cy="164592"/>
          </a:xfrm>
          <a:prstGeom prst="ellipse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0" y="2221991"/>
            <a:ext cx="164592" cy="164592"/>
          </a:xfrm>
          <a:prstGeom prst="ellipse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0" y="2569463"/>
            <a:ext cx="164592" cy="164592"/>
          </a:xfrm>
          <a:prstGeom prst="ellipse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0" y="2916936"/>
            <a:ext cx="164592" cy="164592"/>
          </a:xfrm>
          <a:prstGeom prst="ellipse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15968" y="3429000"/>
            <a:ext cx="77724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9885" y="3639312"/>
            <a:ext cx="480260" cy="26776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 dirty="0">
                <a:solidFill>
                  <a:srgbClr val="A9B8C9"/>
                </a:solidFill>
                <a:latin typeface="Aptos"/>
              </a:rPr>
              <a:t>4 classes
SoftMax</a:t>
            </a:r>
            <a:r>
              <a:rPr lang="en-US" sz="750" b="0" i="0" dirty="0">
                <a:solidFill>
                  <a:srgbClr val="A9B8C9"/>
                </a:solidFill>
                <a:latin typeface="Aptos"/>
              </a:rPr>
              <a:t> </a:t>
            </a:r>
            <a:endParaRPr sz="750" b="0" i="0" dirty="0">
              <a:solidFill>
                <a:srgbClr val="A9B8C9"/>
              </a:solidFill>
              <a:latin typeface="Aptos"/>
            </a:endParaRPr>
          </a:p>
        </p:txBody>
      </p:sp>
      <p:cxnSp>
        <p:nvCxnSpPr>
          <p:cNvPr id="32" name="Connector 31"/>
          <p:cNvCxnSpPr/>
          <p:nvPr/>
        </p:nvCxnSpPr>
        <p:spPr>
          <a:xfrm flipV="1">
            <a:off x="1399032" y="1819656"/>
            <a:ext cx="1481328" cy="137159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399032" y="1956815"/>
            <a:ext cx="1481328" cy="164593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99032" y="1956815"/>
            <a:ext cx="1481328" cy="466345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399032" y="1956815"/>
            <a:ext cx="1481328" cy="768096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99032" y="1956815"/>
            <a:ext cx="1481328" cy="1069848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99032" y="1956815"/>
            <a:ext cx="1481328" cy="1371600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399032" y="1819656"/>
            <a:ext cx="1481328" cy="484631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399032" y="2121408"/>
            <a:ext cx="1481328" cy="182879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399032" y="2304287"/>
            <a:ext cx="1481328" cy="118873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399032" y="2304287"/>
            <a:ext cx="1481328" cy="420624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399032" y="2304287"/>
            <a:ext cx="1481328" cy="722376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399032" y="2304287"/>
            <a:ext cx="1481328" cy="1024128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399032" y="1819656"/>
            <a:ext cx="1481328" cy="832103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399032" y="2121408"/>
            <a:ext cx="1481328" cy="530351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399032" y="2423160"/>
            <a:ext cx="1481328" cy="228599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99032" y="2651759"/>
            <a:ext cx="1481328" cy="73152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99032" y="2651759"/>
            <a:ext cx="1481328" cy="374904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399032" y="2651759"/>
            <a:ext cx="1481328" cy="676656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399032" y="1819656"/>
            <a:ext cx="1481328" cy="1179576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399032" y="2121408"/>
            <a:ext cx="1481328" cy="877824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399032" y="2423160"/>
            <a:ext cx="1481328" cy="576072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399032" y="2724911"/>
            <a:ext cx="1481328" cy="274321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99032" y="2999232"/>
            <a:ext cx="1481328" cy="27431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99032" y="2999232"/>
            <a:ext cx="1481328" cy="329183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399032" y="1819656"/>
            <a:ext cx="1481328" cy="1527047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399032" y="2121408"/>
            <a:ext cx="1481328" cy="1225295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399032" y="2423160"/>
            <a:ext cx="1481328" cy="923543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399032" y="2724911"/>
            <a:ext cx="1481328" cy="621792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399032" y="3026663"/>
            <a:ext cx="1481328" cy="320040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399032" y="3328415"/>
            <a:ext cx="1481328" cy="18288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044952" y="1819656"/>
            <a:ext cx="1527048" cy="137159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044952" y="1819656"/>
            <a:ext cx="1527048" cy="484631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044952" y="1819656"/>
            <a:ext cx="1527048" cy="832103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044952" y="1819656"/>
            <a:ext cx="1527048" cy="1179576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044952" y="1956815"/>
            <a:ext cx="1527048" cy="164593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044952" y="2121408"/>
            <a:ext cx="1527048" cy="182879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044952" y="2121408"/>
            <a:ext cx="1527048" cy="530351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044952" y="2121408"/>
            <a:ext cx="1527048" cy="877824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044952" y="1956815"/>
            <a:ext cx="1527048" cy="466345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044952" y="2304287"/>
            <a:ext cx="1527048" cy="118873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044952" y="2423160"/>
            <a:ext cx="1527048" cy="228599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044952" y="2423160"/>
            <a:ext cx="1527048" cy="576072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044952" y="1956815"/>
            <a:ext cx="1527048" cy="768096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044952" y="2304287"/>
            <a:ext cx="1527048" cy="420624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044952" y="2651759"/>
            <a:ext cx="1527048" cy="73152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044952" y="2724911"/>
            <a:ext cx="1527048" cy="274321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044952" y="1956815"/>
            <a:ext cx="1527048" cy="1069848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044952" y="2304287"/>
            <a:ext cx="1527048" cy="722376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044952" y="2651759"/>
            <a:ext cx="1527048" cy="374904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044952" y="2999232"/>
            <a:ext cx="1527048" cy="27431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044952" y="1956815"/>
            <a:ext cx="1527048" cy="1371600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044952" y="2304287"/>
            <a:ext cx="1527048" cy="1024128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44952" y="2651759"/>
            <a:ext cx="1527048" cy="676656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044952" y="2999232"/>
            <a:ext cx="1527048" cy="329183"/>
          </a:xfrm>
          <a:prstGeom prst="line">
            <a:avLst/>
          </a:prstGeom>
          <a:ln w="3175">
            <a:solidFill>
              <a:srgbClr val="A9B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658368" y="4160520"/>
            <a:ext cx="5532120" cy="1207008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60120" y="4370832"/>
            <a:ext cx="1612686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B45C"/>
                </a:solidFill>
                <a:latin typeface="Aptos"/>
              </a:rPr>
              <a:t>Training settings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0976" y="4709160"/>
            <a:ext cx="3620607" cy="643253"/>
          </a:xfrm>
          <a:prstGeom prst="rect">
            <a:avLst/>
          </a:prstGeom>
          <a:noFill/>
        </p:spPr>
        <p:txBody>
          <a:bodyPr wrap="none" lIns="73152" tIns="36576" rIns="45720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 Adam optimizer • learning rate = 0.01</a:t>
            </a: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 batch size = 200 • max iterations = 500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537960" y="1097280"/>
            <a:ext cx="1234440" cy="786384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629400" y="1261872"/>
            <a:ext cx="105156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0.9936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02203" y="1539693"/>
            <a:ext cx="707758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Accuracy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955280" y="1097280"/>
            <a:ext cx="1234440" cy="786384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046720" y="1261872"/>
            <a:ext cx="105156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0.9936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74388" y="1539693"/>
            <a:ext cx="678519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F1-score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37960" y="2039112"/>
            <a:ext cx="1234440" cy="786384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629400" y="2226563"/>
            <a:ext cx="105156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0.9855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60024" y="2517537"/>
            <a:ext cx="768800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Sensitivity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955280" y="2039112"/>
            <a:ext cx="1234440" cy="786384"/>
          </a:xfrm>
          <a:prstGeom prst="roundRect">
            <a:avLst/>
          </a:prstGeom>
          <a:solidFill>
            <a:srgbClr val="102F4E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046720" y="2203704"/>
            <a:ext cx="1051560" cy="32004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ptos"/>
              </a:rPr>
              <a:t>0.9977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02439" y="2505456"/>
            <a:ext cx="783228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9B8C9"/>
                </a:solidFill>
                <a:latin typeface="Aptos"/>
              </a:rPr>
              <a:t>Specificity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92240" y="2944368"/>
            <a:ext cx="4828032" cy="24323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6" name="Picture 105" descr="mlp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038" y="3063240"/>
            <a:ext cx="4358202" cy="2176272"/>
          </a:xfrm>
          <a:prstGeom prst="rect">
            <a:avLst/>
          </a:prstGeom>
        </p:spPr>
      </p:pic>
      <p:sp>
        <p:nvSpPr>
          <p:cNvPr id="107" name="Rounded Rectangle 106"/>
          <p:cNvSpPr/>
          <p:nvPr/>
        </p:nvSpPr>
        <p:spPr>
          <a:xfrm>
            <a:off x="658368" y="5596128"/>
            <a:ext cx="10835640" cy="722376"/>
          </a:xfrm>
          <a:prstGeom prst="roundRect">
            <a:avLst/>
          </a:prstGeom>
          <a:solidFill>
            <a:srgbClr val="0B233C"/>
          </a:solidFill>
          <a:ln w="1143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68680" y="5705856"/>
            <a:ext cx="10664952" cy="545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16D9C7"/>
                </a:solidFill>
                <a:latin typeface="Aptos"/>
              </a:rPr>
              <a:t>Key insight</a:t>
            </a:r>
            <a:r>
              <a:rPr sz="1600" b="1" i="0" dirty="0">
                <a:solidFill>
                  <a:srgbClr val="16D9C7"/>
                </a:solidFill>
                <a:latin typeface="Aptos"/>
              </a:rPr>
              <a:t>: </a:t>
            </a: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</a:rPr>
              <a:t>A simple MLP (single hidden layer) achieves top performance with stable results, showing that deeper networks are not required for this dataset.</a:t>
            </a:r>
            <a:endParaRPr sz="1600" b="0" i="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10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30352" y="6574536"/>
            <a:ext cx="512064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9B8C9"/>
                </a:solidFill>
                <a:latin typeface="Aptos"/>
              </a:rPr>
              <a:t>COE 292 | Team S12_6 | Car Evaluation Dataset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9768" y="393192"/>
            <a:ext cx="54864" cy="502920"/>
          </a:xfrm>
          <a:prstGeom prst="rect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4532651" cy="4216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500" b="1" dirty="0">
                <a:solidFill>
                  <a:srgbClr val="FFFFFF"/>
                </a:solidFill>
                <a:latin typeface="Aptos Display"/>
              </a:rPr>
              <a:t>Model</a:t>
            </a:r>
            <a:r>
              <a:rPr sz="2500" b="1" i="0" dirty="0">
                <a:solidFill>
                  <a:srgbClr val="FFFFFF"/>
                </a:solidFill>
                <a:latin typeface="Aptos Display"/>
              </a:rPr>
              <a:t> Comparison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355080"/>
            <a:ext cx="41148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9B8C9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060704"/>
            <a:ext cx="6583680" cy="4069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360" y="1060704"/>
            <a:ext cx="3977639" cy="4069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7726679" y="1298448"/>
            <a:ext cx="347472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 i="0" dirty="0">
                <a:solidFill>
                  <a:srgbClr val="071A2D"/>
                </a:solidFill>
                <a:latin typeface="Aptos"/>
              </a:rPr>
              <a:t>Average performance metrics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249743"/>
              </p:ext>
            </p:extLst>
          </p:nvPr>
        </p:nvGraphicFramePr>
        <p:xfrm>
          <a:off x="7461117" y="1817751"/>
          <a:ext cx="3908174" cy="1291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7673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0E9E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Acc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/>
                        </a:rPr>
                        <a:t>uracy</a:t>
                      </a:r>
                      <a:endParaRPr sz="9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0E9E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/>
                        </a:rPr>
                        <a:t> score</a:t>
                      </a:r>
                      <a:endParaRPr sz="9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0E9E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/>
                        </a:rPr>
                        <a:t>Sensitivity</a:t>
                      </a:r>
                      <a:endParaRPr sz="9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0E9E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/>
                        </a:rPr>
                        <a:t>Specificity</a:t>
                      </a:r>
                      <a:endParaRPr sz="9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0E9E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71A2D"/>
                          </a:solidFill>
                          <a:latin typeface="Aptos"/>
                        </a:rPr>
                        <a:t>KNN</a:t>
                      </a:r>
                      <a:r>
                        <a:rPr lang="en-US" sz="1000" b="0" dirty="0">
                          <a:solidFill>
                            <a:srgbClr val="071A2D"/>
                          </a:solidFill>
                          <a:latin typeface="Aptos"/>
                        </a:rPr>
                        <a:t> (K=9)</a:t>
                      </a:r>
                      <a:endParaRPr sz="1000" b="0" dirty="0">
                        <a:solidFill>
                          <a:srgbClr val="071A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71A2D"/>
                          </a:solidFill>
                          <a:latin typeface="Aptos"/>
                        </a:rPr>
                        <a:t>0.9057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71A2D"/>
                          </a:solidFill>
                          <a:latin typeface="Aptos"/>
                        </a:rPr>
                        <a:t>0.8981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71A2D"/>
                          </a:solidFill>
                          <a:latin typeface="Aptos"/>
                        </a:rPr>
                        <a:t>0.6751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71A2D"/>
                          </a:solidFill>
                          <a:latin typeface="Aptos"/>
                        </a:rPr>
                        <a:t>0.9493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71A2D"/>
                          </a:solidFill>
                          <a:latin typeface="Aptos"/>
                        </a:rPr>
                        <a:t>SVM</a:t>
                      </a:r>
                    </a:p>
                  </a:txBody>
                  <a:tcPr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71A2D"/>
                          </a:solidFill>
                          <a:latin typeface="Aptos"/>
                        </a:rPr>
                        <a:t>0.9757</a:t>
                      </a:r>
                    </a:p>
                  </a:txBody>
                  <a:tcPr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71A2D"/>
                          </a:solidFill>
                          <a:latin typeface="Aptos"/>
                        </a:rPr>
                        <a:t>0.9753</a:t>
                      </a:r>
                    </a:p>
                  </a:txBody>
                  <a:tcPr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71A2D"/>
                          </a:solidFill>
                          <a:latin typeface="Aptos"/>
                        </a:rPr>
                        <a:t>0.9190</a:t>
                      </a:r>
                    </a:p>
                  </a:txBody>
                  <a:tcPr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71A2D"/>
                          </a:solidFill>
                          <a:latin typeface="Aptos"/>
                        </a:rPr>
                        <a:t>0.9927</a:t>
                      </a:r>
                    </a:p>
                  </a:txBody>
                  <a:tcPr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71A2D"/>
                          </a:solidFill>
                          <a:latin typeface="Aptos"/>
                        </a:rPr>
                        <a:t>MLP</a:t>
                      </a:r>
                    </a:p>
                  </a:txBody>
                  <a:tcPr>
                    <a:solidFill>
                      <a:srgbClr val="DF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71A2D"/>
                          </a:solidFill>
                          <a:latin typeface="Aptos"/>
                        </a:rPr>
                        <a:t>0.9936</a:t>
                      </a:r>
                    </a:p>
                  </a:txBody>
                  <a:tcPr>
                    <a:solidFill>
                      <a:srgbClr val="DF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71A2D"/>
                          </a:solidFill>
                          <a:latin typeface="Aptos"/>
                        </a:rPr>
                        <a:t>0.9936</a:t>
                      </a:r>
                    </a:p>
                  </a:txBody>
                  <a:tcPr>
                    <a:solidFill>
                      <a:srgbClr val="DF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71A2D"/>
                          </a:solidFill>
                          <a:latin typeface="Aptos"/>
                        </a:rPr>
                        <a:t>0.9855</a:t>
                      </a:r>
                    </a:p>
                  </a:txBody>
                  <a:tcPr>
                    <a:solidFill>
                      <a:srgbClr val="DF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71A2D"/>
                          </a:solidFill>
                          <a:latin typeface="Aptos"/>
                        </a:rPr>
                        <a:t>0.9977</a:t>
                      </a:r>
                    </a:p>
                  </a:txBody>
                  <a:tcPr>
                    <a:solidFill>
                      <a:srgbClr val="DF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754112" y="3401568"/>
            <a:ext cx="292608" cy="246888"/>
          </a:xfrm>
          <a:prstGeom prst="roundRect">
            <a:avLst/>
          </a:prstGeom>
          <a:solidFill>
            <a:srgbClr val="E8B45C"/>
          </a:solidFill>
          <a:ln w="1270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9832" y="3465576"/>
            <a:ext cx="201168" cy="15544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071A2D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419856"/>
            <a:ext cx="440185" cy="252377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A2D"/>
                </a:solidFill>
                <a:latin typeface="Aptos"/>
              </a:rPr>
              <a:t>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419856"/>
            <a:ext cx="1719060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455A6B"/>
                </a:solidFill>
                <a:latin typeface="Aptos"/>
              </a:rPr>
              <a:t>Best, but requires tuning</a:t>
            </a:r>
            <a:endParaRPr sz="1200" b="0" i="0" dirty="0">
              <a:solidFill>
                <a:srgbClr val="455A6B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54112" y="3877056"/>
            <a:ext cx="292608" cy="246888"/>
          </a:xfrm>
          <a:prstGeom prst="roundRect">
            <a:avLst/>
          </a:prstGeom>
          <a:solidFill>
            <a:srgbClr val="16D9C7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99832" y="3941064"/>
            <a:ext cx="201168" cy="15544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071A2D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895344"/>
            <a:ext cx="839974" cy="252377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A2D"/>
                </a:solidFill>
                <a:latin typeface="Aptos"/>
              </a:rPr>
              <a:t>SVM Poly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895344"/>
            <a:ext cx="1614994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 b="0" i="0" dirty="0">
                <a:solidFill>
                  <a:srgbClr val="455A6B"/>
                </a:solidFill>
                <a:latin typeface="Aptos"/>
              </a:rPr>
              <a:t>Balanced performance</a:t>
            </a:r>
            <a:endParaRPr sz="1200" b="0" i="0" dirty="0">
              <a:solidFill>
                <a:srgbClr val="455A6B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54112" y="4352544"/>
            <a:ext cx="292608" cy="246888"/>
          </a:xfrm>
          <a:prstGeom prst="roundRect">
            <a:avLst/>
          </a:prstGeom>
          <a:solidFill>
            <a:srgbClr val="16D9C7"/>
          </a:solidFill>
          <a:ln w="1270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99832" y="4416552"/>
            <a:ext cx="201168" cy="155448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071A2D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4370831"/>
            <a:ext cx="911468" cy="252377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071A2D"/>
                </a:solidFill>
                <a:latin typeface="Aptos"/>
              </a:rPr>
              <a:t>KNN </a:t>
            </a:r>
            <a:r>
              <a:rPr lang="en-US" sz="1400" b="1" i="0" dirty="0">
                <a:solidFill>
                  <a:srgbClr val="071A2D"/>
                </a:solidFill>
                <a:latin typeface="Aptos"/>
              </a:rPr>
              <a:t>(</a:t>
            </a:r>
            <a:r>
              <a:rPr sz="1400" b="1" i="0" dirty="0">
                <a:solidFill>
                  <a:srgbClr val="071A2D"/>
                </a:solidFill>
                <a:latin typeface="Aptos"/>
              </a:rPr>
              <a:t>K=9</a:t>
            </a:r>
            <a:r>
              <a:rPr lang="en-US" sz="1400" b="1" i="0" dirty="0">
                <a:solidFill>
                  <a:srgbClr val="071A2D"/>
                </a:solidFill>
                <a:latin typeface="Aptos"/>
              </a:rPr>
              <a:t>)</a:t>
            </a:r>
            <a:endParaRPr sz="1400" b="1" i="0" dirty="0">
              <a:solidFill>
                <a:srgbClr val="071A2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89720" y="4370831"/>
            <a:ext cx="1951945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455A6B"/>
                </a:solidFill>
                <a:latin typeface="Aptos"/>
              </a:rPr>
              <a:t>Simple  but </a:t>
            </a:r>
            <a:r>
              <a:rPr sz="1200" b="0" i="0" dirty="0">
                <a:solidFill>
                  <a:srgbClr val="455A6B"/>
                </a:solidFill>
                <a:latin typeface="Aptos"/>
              </a:rPr>
              <a:t> weak </a:t>
            </a:r>
            <a:r>
              <a:rPr lang="en-US" sz="1200" dirty="0">
                <a:solidFill>
                  <a:srgbClr val="455A6B"/>
                </a:solidFill>
                <a:latin typeface="Aptos"/>
              </a:rPr>
              <a:t>sensitivity</a:t>
            </a:r>
            <a:endParaRPr sz="1200" b="0" i="0" dirty="0">
              <a:solidFill>
                <a:srgbClr val="455A6B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8368" y="5376672"/>
            <a:ext cx="10771632" cy="749808"/>
          </a:xfrm>
          <a:prstGeom prst="roundRect">
            <a:avLst/>
          </a:prstGeom>
          <a:solidFill>
            <a:srgbClr val="0B233C"/>
          </a:solidFill>
          <a:ln w="1270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5632" y="5458968"/>
            <a:ext cx="10406148" cy="545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E8B45C"/>
                </a:solidFill>
                <a:latin typeface="Aptos"/>
              </a:rPr>
              <a:t>Final Insight</a:t>
            </a:r>
            <a:r>
              <a:rPr sz="1600" b="1" i="0" dirty="0">
                <a:solidFill>
                  <a:srgbClr val="E8B45C"/>
                </a:solidFill>
                <a:latin typeface="Aptos"/>
              </a:rPr>
              <a:t>: </a:t>
            </a: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</a:rPr>
              <a:t>Nonlinear models (SVM and MLP) outperform KNN, with MLP achieving the best overall performance, while KNN is the most affected by class imbalance.</a:t>
            </a:r>
            <a:endParaRPr sz="1600" b="0" i="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10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6574536"/>
            <a:ext cx="512064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9B8C9"/>
                </a:solidFill>
                <a:latin typeface="Aptos"/>
              </a:rPr>
              <a:t>COE 292 | Team S12_6 | Car Evaluation Dataset</a:t>
            </a:r>
          </a:p>
        </p:txBody>
      </p:sp>
      <p:pic>
        <p:nvPicPr>
          <p:cNvPr id="6" name="Picture 5" descr="final_model_comparison_no_overlap.png">
            <a:extLst>
              <a:ext uri="{FF2B5EF4-FFF2-40B4-BE49-F238E27FC236}">
                <a16:creationId xmlns:a16="http://schemas.microsoft.com/office/drawing/2014/main" id="{61590A03-C9BF-59DC-475C-AE669210C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66" y="1331060"/>
            <a:ext cx="6140840" cy="354106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9768" y="393192"/>
            <a:ext cx="54864" cy="502920"/>
          </a:xfrm>
          <a:prstGeom prst="rect">
            <a:avLst/>
          </a:prstGeom>
          <a:solidFill>
            <a:srgbClr val="1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4728089" cy="4216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dirty="0">
                <a:solidFill>
                  <a:srgbClr val="FFFFFF"/>
                </a:solidFill>
                <a:latin typeface="Aptos Display"/>
              </a:rPr>
              <a:t>Insights, Limitations &amp; </a:t>
            </a:r>
            <a:r>
              <a:rPr lang="en-US" sz="2500" b="1" i="0" dirty="0">
                <a:solidFill>
                  <a:srgbClr val="FFFFFF"/>
                </a:solidFill>
                <a:latin typeface="Aptos Display"/>
              </a:rPr>
              <a:t>Conclusion</a:t>
            </a:r>
            <a:endParaRPr sz="25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84280" y="6355080"/>
            <a:ext cx="411480" cy="219456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9B8C9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170432"/>
            <a:ext cx="3328416" cy="4434840"/>
          </a:xfrm>
          <a:prstGeom prst="roundRect">
            <a:avLst/>
          </a:prstGeom>
          <a:solidFill>
            <a:srgbClr val="102F4E"/>
          </a:solidFill>
          <a:ln w="1524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17320"/>
            <a:ext cx="2834640" cy="25603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6D9C7"/>
                </a:solidFill>
                <a:latin typeface="Aptos"/>
              </a:rPr>
              <a:t>Key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135" y="1714976"/>
            <a:ext cx="3360419" cy="3459409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 Safety and passenger capacity strongly influence acceptability.</a:t>
            </a:r>
            <a:endParaRPr lang="en-GB"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endParaRPr lang="en-GB"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endParaRPr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</a:t>
            </a:r>
            <a:r>
              <a:rPr lang="en-US" sz="1600" dirty="0">
                <a:solidFill>
                  <a:srgbClr val="C8D5E0"/>
                </a:solidFill>
                <a:latin typeface="Aptos"/>
              </a:rPr>
              <a:t> Nonlinear models perform better because the dataset contains complex patterns that KNN can’t capture.</a:t>
            </a:r>
          </a:p>
          <a:p>
            <a:pPr algn="l">
              <a:spcAft>
                <a:spcPts val="600"/>
              </a:spcAft>
            </a:pPr>
            <a:endParaRPr lang="en-US"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endParaRPr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 </a:t>
            </a:r>
            <a:r>
              <a:rPr lang="en-US" sz="1400" dirty="0">
                <a:solidFill>
                  <a:srgbClr val="C8D5E0"/>
                </a:solidFill>
                <a:latin typeface="Aptos"/>
              </a:rPr>
              <a:t>Class imbalance affects model behavior, especially for KNN.</a:t>
            </a:r>
            <a:endParaRPr sz="1600" dirty="0">
              <a:solidFill>
                <a:srgbClr val="C8D5E0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15968" y="1170432"/>
            <a:ext cx="3328416" cy="4434840"/>
          </a:xfrm>
          <a:prstGeom prst="roundRect">
            <a:avLst/>
          </a:prstGeom>
          <a:solidFill>
            <a:srgbClr val="102F4E"/>
          </a:solidFill>
          <a:ln w="15240">
            <a:solidFill>
              <a:srgbClr val="E8B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417320"/>
            <a:ext cx="2834640" cy="25603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E8B45C"/>
                </a:solidFill>
                <a:latin typeface="Aptos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4820" y="1714976"/>
            <a:ext cx="3633978" cy="3167021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 </a:t>
            </a:r>
            <a:r>
              <a:rPr lang="en-US" sz="1600" dirty="0">
                <a:solidFill>
                  <a:srgbClr val="C8D5E0"/>
                </a:solidFill>
                <a:latin typeface="Aptos"/>
              </a:rPr>
              <a:t>High accuracy can be misleading,                as it doesn’t fully capture     performance on minority classes. </a:t>
            </a:r>
          </a:p>
          <a:p>
            <a:pPr algn="l">
              <a:spcAft>
                <a:spcPts val="600"/>
              </a:spcAft>
            </a:pPr>
            <a:endParaRPr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 The dataset is</a:t>
            </a:r>
            <a:r>
              <a:rPr lang="en-US" sz="1600" dirty="0">
                <a:solidFill>
                  <a:srgbClr val="C8D5E0"/>
                </a:solidFill>
                <a:latin typeface="Aptos"/>
              </a:rPr>
              <a:t> highly simplified, so results may not reflect the real-world scenarios</a:t>
            </a:r>
            <a:r>
              <a:rPr sz="1600" dirty="0">
                <a:solidFill>
                  <a:srgbClr val="C8D5E0"/>
                </a:solidFill>
                <a:latin typeface="Aptos"/>
              </a:rPr>
              <a:t>.</a:t>
            </a:r>
            <a:endParaRPr lang="en-GB"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endParaRPr lang="en-US"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endParaRPr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 MLP</a:t>
            </a:r>
            <a:r>
              <a:rPr lang="en-US" sz="1600" dirty="0">
                <a:solidFill>
                  <a:srgbClr val="C8D5E0"/>
                </a:solidFill>
                <a:latin typeface="Aptos"/>
              </a:rPr>
              <a:t> and </a:t>
            </a:r>
            <a:r>
              <a:rPr sz="1600" dirty="0">
                <a:solidFill>
                  <a:srgbClr val="C8D5E0"/>
                </a:solidFill>
                <a:latin typeface="Aptos"/>
              </a:rPr>
              <a:t>SVM</a:t>
            </a:r>
            <a:r>
              <a:rPr lang="en-US" sz="1600" dirty="0">
                <a:solidFill>
                  <a:srgbClr val="C8D5E0"/>
                </a:solidFill>
                <a:latin typeface="Aptos"/>
              </a:rPr>
              <a:t> improve performance but are </a:t>
            </a:r>
            <a:r>
              <a:rPr sz="1600" dirty="0">
                <a:solidFill>
                  <a:srgbClr val="C8D5E0"/>
                </a:solidFill>
                <a:latin typeface="Aptos"/>
              </a:rPr>
              <a:t>less interpretable than KNN.</a:t>
            </a:r>
            <a:endParaRPr lang="en-GB" sz="1600" dirty="0">
              <a:solidFill>
                <a:srgbClr val="C8D5E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73568" y="1170432"/>
            <a:ext cx="3328416" cy="4434840"/>
          </a:xfrm>
          <a:prstGeom prst="roundRect">
            <a:avLst/>
          </a:prstGeom>
          <a:solidFill>
            <a:srgbClr val="102F4E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417320"/>
            <a:ext cx="2834640" cy="256032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27AE60"/>
                </a:solidFill>
                <a:latin typeface="Aptos"/>
              </a:rPr>
              <a:t>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7190" y="1679466"/>
            <a:ext cx="3281171" cy="3243965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 MLP </a:t>
            </a:r>
            <a:r>
              <a:rPr lang="en-US" sz="1600" dirty="0">
                <a:solidFill>
                  <a:srgbClr val="C8D5E0"/>
                </a:solidFill>
                <a:latin typeface="Aptos"/>
              </a:rPr>
              <a:t>is selected as the final model due to its superior and stable </a:t>
            </a:r>
            <a:r>
              <a:rPr sz="1600" dirty="0">
                <a:solidFill>
                  <a:srgbClr val="C8D5E0"/>
                </a:solidFill>
                <a:latin typeface="Aptos"/>
              </a:rPr>
              <a:t>performance.</a:t>
            </a:r>
            <a:endParaRPr lang="en-GB"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endParaRPr lang="en-GB"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endParaRPr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 SVM</a:t>
            </a:r>
            <a:r>
              <a:rPr lang="en-US" sz="1600" dirty="0">
                <a:solidFill>
                  <a:srgbClr val="C8D5E0"/>
                </a:solidFill>
                <a:latin typeface="Aptos"/>
              </a:rPr>
              <a:t> (</a:t>
            </a:r>
            <a:r>
              <a:rPr sz="1600" dirty="0">
                <a:solidFill>
                  <a:srgbClr val="C8D5E0"/>
                </a:solidFill>
                <a:latin typeface="Aptos"/>
              </a:rPr>
              <a:t>Poly</a:t>
            </a:r>
            <a:r>
              <a:rPr lang="en-US" sz="1600" dirty="0">
                <a:solidFill>
                  <a:srgbClr val="C8D5E0"/>
                </a:solidFill>
                <a:latin typeface="Aptos"/>
              </a:rPr>
              <a:t>) provides a reliable alternative.</a:t>
            </a:r>
            <a:endParaRPr lang="en-GB"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endParaRPr lang="en-US"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endParaRPr sz="1600" dirty="0">
              <a:solidFill>
                <a:srgbClr val="C8D5E0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600" dirty="0">
                <a:solidFill>
                  <a:srgbClr val="C8D5E0"/>
                </a:solidFill>
                <a:latin typeface="Aptos"/>
              </a:rPr>
              <a:t>• KNN remains useful as a simple baseline, but not as the final model.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797296"/>
            <a:ext cx="10643616" cy="384048"/>
          </a:xfrm>
          <a:prstGeom prst="roundRect">
            <a:avLst/>
          </a:prstGeom>
          <a:solidFill>
            <a:srgbClr val="0B233C"/>
          </a:solidFill>
          <a:ln w="11430">
            <a:solidFill>
              <a:srgbClr val="1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85395" y="5897880"/>
            <a:ext cx="9007851" cy="221599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dirty="0">
                <a:solidFill>
                  <a:schemeClr val="bg1"/>
                </a:solidFill>
                <a:latin typeface="Aptos" panose="020B0004020202020204" pitchFamily="34" charset="0"/>
              </a:rPr>
              <a:t>Final takeaway:</a:t>
            </a:r>
            <a:r>
              <a:rPr lang="en-US" sz="1150" b="1" i="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</a:rPr>
              <a:t>Use MLP for best performance but always consider class imbalance and interpretability when selecting models.</a:t>
            </a:r>
            <a:endParaRPr sz="1150" b="1" i="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10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6574536"/>
            <a:ext cx="512064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9B8C9"/>
                </a:solidFill>
                <a:latin typeface="Aptos"/>
              </a:rPr>
              <a:t>COE 292 | Team S12_6 | Car Evaluation Dataset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782</Words>
  <Application>Microsoft Office PowerPoint</Application>
  <PresentationFormat>Widescreen</PresentationFormat>
  <Paragraphs>192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saad aldossary</dc:creator>
  <cp:keywords/>
  <dc:description>generated using python-pptx</dc:description>
  <cp:lastModifiedBy>saad aldossary</cp:lastModifiedBy>
  <cp:revision>10</cp:revision>
  <dcterms:created xsi:type="dcterms:W3CDTF">2013-01-27T09:14:16Z</dcterms:created>
  <dcterms:modified xsi:type="dcterms:W3CDTF">2026-05-05T13:47:31Z</dcterms:modified>
  <cp:category/>
</cp:coreProperties>
</file>